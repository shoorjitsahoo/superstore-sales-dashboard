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7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44" autoAdjust="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</c:v>
                </c:pt>
                <c:pt idx="1">
                  <c:v>471</c:v>
                </c:pt>
                <c:pt idx="2">
                  <c:v>609</c:v>
                </c:pt>
                <c:pt idx="3">
                  <c:v>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E2-48B2-B949-6083B0DC8E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62</c:v>
                </c:pt>
                <c:pt idx="2">
                  <c:v>82</c:v>
                </c:pt>
                <c:pt idx="3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E2-48B2-B949-6083B0DC8E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F3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21F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E3D-429B-8C48-C8321411E4C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E3D-429B-8C48-C8321411E4C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E3D-429B-8C48-C8321411E4C4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E3D-429B-8C48-C8321411E4C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 PEAK</c:v>
                </c:pt>
                <c:pt idx="3">
                  <c:v>2017 ↓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10.23</c:v>
                </c:pt>
                <c:pt idx="1">
                  <c:v>13.1</c:v>
                </c:pt>
                <c:pt idx="2">
                  <c:v>13.43</c:v>
                </c:pt>
                <c:pt idx="3">
                  <c:v>12.74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E3D-429B-8C48-C8321411E4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F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21F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742</c:v>
                </c:pt>
                <c:pt idx="1">
                  <c:v>719</c:v>
                </c:pt>
                <c:pt idx="2">
                  <c:v>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E6-4835-A92E-6C37E34077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</c:v>
                </c:pt>
                <c:pt idx="1">
                  <c:v>122</c:v>
                </c:pt>
                <c:pt idx="2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E6-4835-A92E-6C37E34077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 ($K)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23.7</c:v>
                </c:pt>
                <c:pt idx="1">
                  <c:v>14.9</c:v>
                </c:pt>
                <c:pt idx="2">
                  <c:v>51.3</c:v>
                </c:pt>
                <c:pt idx="3">
                  <c:v>34.4</c:v>
                </c:pt>
                <c:pt idx="4">
                  <c:v>38.799999999999997</c:v>
                </c:pt>
                <c:pt idx="5">
                  <c:v>38.200000000000003</c:v>
                </c:pt>
                <c:pt idx="6">
                  <c:v>36.799999999999997</c:v>
                </c:pt>
                <c:pt idx="7">
                  <c:v>39.799999999999997</c:v>
                </c:pt>
                <c:pt idx="8">
                  <c:v>76.900000000000006</c:v>
                </c:pt>
                <c:pt idx="9">
                  <c:v>50.1</c:v>
                </c:pt>
                <c:pt idx="10">
                  <c:v>88.1</c:v>
                </c:pt>
                <c:pt idx="11">
                  <c:v>81.3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933-4847-B24C-E092FA32D8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F35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21F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029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8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84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08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800" dirty="0">
                <a:solidFill>
                  <a:srgbClr val="FFFFFF"/>
                </a:solidFill>
              </a:rPr>
              <a:t>SUPERSTORE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kern="0" spc="200" dirty="0">
                <a:solidFill>
                  <a:srgbClr val="0D9488"/>
                </a:solidFill>
              </a:rPr>
              <a:t>Management Dashboard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107692"/>
            <a:ext cx="6583680" cy="603504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76272"/>
            <a:ext cx="6400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9077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023360"/>
            <a:ext cx="9144000" cy="1115568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4023360"/>
            <a:ext cx="164592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$2.30M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" y="4572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Total Revenue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39112" y="4023360"/>
            <a:ext cx="1645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$286K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39112" y="4572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Total Profit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03904" y="4023360"/>
            <a:ext cx="1645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03904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12.47%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03904" y="4572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Profit Margin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68696" y="4023360"/>
            <a:ext cx="1645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68696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5,009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68696" y="4572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Total Orders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33488" y="4023360"/>
            <a:ext cx="1645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793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33488" y="4572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Customers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2735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812C2DF6-7410-2021-2BB3-485B95763D6B}"/>
              </a:ext>
            </a:extLst>
          </p:cNvPr>
          <p:cNvSpPr/>
          <p:nvPr/>
        </p:nvSpPr>
        <p:spPr>
          <a:xfrm>
            <a:off x="6833062" y="292608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/>
        </p:spPr>
        <p:txBody>
          <a:bodyPr/>
          <a:lstStyle/>
          <a:p>
            <a:pPr algn="ctr"/>
            <a:r>
              <a:rPr lang="en-US" sz="1400" b="1" dirty="0" err="1">
                <a:solidFill>
                  <a:srgbClr val="FFFFFF"/>
                </a:solidFill>
              </a:rPr>
              <a:t>upGrad</a:t>
            </a:r>
            <a:r>
              <a:rPr lang="en-US" sz="1400" b="1" dirty="0">
                <a:solidFill>
                  <a:srgbClr val="FFFFFF"/>
                </a:solidFill>
              </a:rPr>
              <a:t> Hackathon 2026</a:t>
            </a:r>
            <a:endParaRPr lang="en-US" sz="14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D732FE33-38C6-05BE-F115-DF00C7C4FC94}"/>
              </a:ext>
            </a:extLst>
          </p:cNvPr>
          <p:cNvSpPr/>
          <p:nvPr/>
        </p:nvSpPr>
        <p:spPr>
          <a:xfrm>
            <a:off x="457200" y="205740"/>
            <a:ext cx="1938528" cy="25146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6B"/>
            </a:solidFill>
            <a:prstDash val="solid"/>
          </a:ln>
        </p:spPr>
        <p:txBody>
          <a:bodyPr/>
          <a:lstStyle/>
          <a:p>
            <a:r>
              <a:rPr lang="en-US" sz="900" dirty="0">
                <a:solidFill>
                  <a:schemeClr val="bg1"/>
                </a:solidFill>
              </a:rPr>
              <a:t>LEVEL : 2 BEGINNER–INTERMEDIATE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8CF6CF-0642-7314-45E7-FD01BB7FEA0A}"/>
              </a:ext>
            </a:extLst>
          </p:cNvPr>
          <p:cNvSpPr txBox="1"/>
          <p:nvPr/>
        </p:nvSpPr>
        <p:spPr>
          <a:xfrm>
            <a:off x="906087" y="2249624"/>
            <a:ext cx="5956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Business Performance Review  |  2014–2017</a:t>
            </a:r>
            <a:endParaRPr lang="en-US" sz="1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09BEEF-9918-25B7-8F57-4009BDA74A0A}"/>
              </a:ext>
            </a:extLst>
          </p:cNvPr>
          <p:cNvSpPr txBox="1"/>
          <p:nvPr/>
        </p:nvSpPr>
        <p:spPr>
          <a:xfrm>
            <a:off x="411480" y="2863072"/>
            <a:ext cx="6205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Dataset  |  Prepared </a:t>
            </a:r>
            <a:r>
              <a:rPr lang="en-US" b="1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 B-5 </a:t>
            </a:r>
            <a:r>
              <a:rPr lang="en-US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b="1" dirty="0"/>
          </a:p>
        </p:txBody>
      </p:sp>
      <p:sp>
        <p:nvSpPr>
          <p:cNvPr id="9" name="Text 7"/>
          <p:cNvSpPr/>
          <p:nvPr/>
        </p:nvSpPr>
        <p:spPr>
          <a:xfrm>
            <a:off x="1828800" y="14356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 order line items</a:t>
            </a:r>
            <a:endParaRPr lang="en-US" sz="950" b="1" dirty="0"/>
          </a:p>
        </p:txBody>
      </p:sp>
      <p:sp>
        <p:nvSpPr>
          <p:cNvPr id="10" name="Shape 8"/>
          <p:cNvSpPr/>
          <p:nvPr/>
        </p:nvSpPr>
        <p:spPr>
          <a:xfrm>
            <a:off x="502920" y="1746504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465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17647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2014 – Dec 2017  (4 years)</a:t>
            </a:r>
            <a:endParaRPr lang="en-US" sz="950" b="1" dirty="0"/>
          </a:p>
        </p:txBody>
      </p:sp>
      <p:sp>
        <p:nvSpPr>
          <p:cNvPr id="13" name="Shape 11"/>
          <p:cNvSpPr/>
          <p:nvPr/>
        </p:nvSpPr>
        <p:spPr>
          <a:xfrm>
            <a:off x="502920" y="2075688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756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093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5,009 unique orders</a:t>
            </a:r>
            <a:endParaRPr lang="en-US" sz="950" b="1" dirty="0"/>
          </a:p>
        </p:txBody>
      </p:sp>
      <p:sp>
        <p:nvSpPr>
          <p:cNvPr id="16" name="Shape 14"/>
          <p:cNvSpPr/>
          <p:nvPr/>
        </p:nvSpPr>
        <p:spPr>
          <a:xfrm>
            <a:off x="502920" y="2404872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048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24231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 unique customers</a:t>
            </a:r>
            <a:endParaRPr lang="en-US" sz="950" b="1" dirty="0"/>
          </a:p>
        </p:txBody>
      </p:sp>
      <p:sp>
        <p:nvSpPr>
          <p:cNvPr id="19" name="Shape 17"/>
          <p:cNvSpPr/>
          <p:nvPr/>
        </p:nvSpPr>
        <p:spPr>
          <a:xfrm>
            <a:off x="502920" y="2734056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7340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27523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 |  4 Regions  |  49 States</a:t>
            </a:r>
            <a:endParaRPr lang="en-US" sz="950" b="1" dirty="0"/>
          </a:p>
        </p:txBody>
      </p:sp>
      <p:sp>
        <p:nvSpPr>
          <p:cNvPr id="22" name="Shape 20"/>
          <p:cNvSpPr/>
          <p:nvPr/>
        </p:nvSpPr>
        <p:spPr>
          <a:xfrm>
            <a:off x="502920" y="3063240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3081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 ·  Office Supplies  ·  Technology</a:t>
            </a:r>
            <a:endParaRPr lang="en-US" sz="950" b="1" dirty="0"/>
          </a:p>
        </p:txBody>
      </p:sp>
      <p:sp>
        <p:nvSpPr>
          <p:cNvPr id="25" name="Shape 23"/>
          <p:cNvSpPr/>
          <p:nvPr/>
        </p:nvSpPr>
        <p:spPr>
          <a:xfrm>
            <a:off x="502920" y="3392424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924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34107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distinct product groups</a:t>
            </a:r>
            <a:endParaRPr lang="en-US" sz="950" b="1" dirty="0"/>
          </a:p>
        </p:txBody>
      </p:sp>
      <p:sp>
        <p:nvSpPr>
          <p:cNvPr id="28" name="Shape 26"/>
          <p:cNvSpPr/>
          <p:nvPr/>
        </p:nvSpPr>
        <p:spPr>
          <a:xfrm>
            <a:off x="502920" y="3721608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216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28800" y="37398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 ·  Corporate  ·  Home Office</a:t>
            </a:r>
            <a:endParaRPr lang="en-US" sz="950" b="1" dirty="0"/>
          </a:p>
        </p:txBody>
      </p:sp>
      <p:sp>
        <p:nvSpPr>
          <p:cNvPr id="31" name="Shape 29"/>
          <p:cNvSpPr/>
          <p:nvPr/>
        </p:nvSpPr>
        <p:spPr>
          <a:xfrm>
            <a:off x="502920" y="4050792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0507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28800" y="4069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Quantity, Discount</a:t>
            </a:r>
            <a:endParaRPr lang="en-US" sz="950" b="1" dirty="0"/>
          </a:p>
        </p:txBody>
      </p:sp>
      <p:sp>
        <p:nvSpPr>
          <p:cNvPr id="34" name="Shape 32"/>
          <p:cNvSpPr/>
          <p:nvPr/>
        </p:nvSpPr>
        <p:spPr>
          <a:xfrm>
            <a:off x="502920" y="4379976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799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828800" y="43982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– dataset is clean and complete</a:t>
            </a:r>
            <a:endParaRPr lang="en-US" sz="950" b="1" dirty="0"/>
          </a:p>
        </p:txBody>
      </p:sp>
      <p:sp>
        <p:nvSpPr>
          <p:cNvPr id="37" name="Shape 35"/>
          <p:cNvSpPr/>
          <p:nvPr/>
        </p:nvSpPr>
        <p:spPr>
          <a:xfrm>
            <a:off x="4663440" y="876993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920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Analysis Focuses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92040" y="1417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Revenue &amp; Profit Trajectory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0" y="16093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4-year trends, year-over-year growth, and acceleration patterns to understand business health.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92040" y="19842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Category Profitability Gap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21762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generates 32% of revenue but only 6.4% of profit — a critical structural problem to investigate.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92040" y="2551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Discount Destruction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0" y="2743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above 20% turn the business loss-making. We quantify exactly how much profit is being destroyed.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92040" y="31181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Regional Performance Disparity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33101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underperforms at 7.9% margin vs West at 14.9%. Root cause analysis included.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92040" y="36850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Sub-Category Loss Leaders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0" y="387705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Bookcases &amp; Supplies are structurally loss-making and require immediate pricing correction.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92040" y="4251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Seasonality &amp; Demand Patterns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0" y="444398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(Nov–Dec) drives disproportionate sales — operational readiness is a strategic imperative.</a:t>
            </a:r>
            <a:endParaRPr lang="en-US" sz="850" dirty="0"/>
          </a:p>
        </p:txBody>
      </p:sp>
      <p:sp>
        <p:nvSpPr>
          <p:cNvPr id="52" name="Shape 0">
            <a:extLst>
              <a:ext uri="{FF2B5EF4-FFF2-40B4-BE49-F238E27FC236}">
                <a16:creationId xmlns:a16="http://schemas.microsoft.com/office/drawing/2014/main" id="{5F67BA7E-5DE2-79A7-19CC-F65AB99B1E9A}"/>
              </a:ext>
            </a:extLst>
          </p:cNvPr>
          <p:cNvSpPr/>
          <p:nvPr/>
        </p:nvSpPr>
        <p:spPr>
          <a:xfrm flipH="1">
            <a:off x="228600" y="868680"/>
            <a:ext cx="45720" cy="3931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3" name="Shape 0">
            <a:extLst>
              <a:ext uri="{FF2B5EF4-FFF2-40B4-BE49-F238E27FC236}">
                <a16:creationId xmlns:a16="http://schemas.microsoft.com/office/drawing/2014/main" id="{BD4EC539-DF98-C6B0-2D9B-464FFF266689}"/>
              </a:ext>
            </a:extLst>
          </p:cNvPr>
          <p:cNvSpPr/>
          <p:nvPr/>
        </p:nvSpPr>
        <p:spPr>
          <a:xfrm flipH="1">
            <a:off x="4617720" y="875331"/>
            <a:ext cx="45720" cy="3931920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45282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0E1A"/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EXECUTIVE KPI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3 of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594360"/>
            <a:ext cx="1645920" cy="1261872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594360"/>
            <a:ext cx="164592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751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$2.30M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" y="11795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" y="1371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↑ +51.4% over 4 yrs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2880" y="1572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CBD5E1"/>
                </a:solidFill>
              </a:rPr>
              <a:t>Why: Baseline: Is the business growing?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947672" y="594360"/>
            <a:ext cx="1645920" cy="1261872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47672" y="594360"/>
            <a:ext cx="1645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7672" y="66751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$286K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947672" y="11795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Total Profit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47672" y="1371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↑ +88.6% over 4 yrs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947672" y="1572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CBD5E1"/>
                </a:solidFill>
              </a:rPr>
              <a:t>Why: Core: Are we profitable?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712464" y="594360"/>
            <a:ext cx="1645920" cy="1261872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2464" y="594360"/>
            <a:ext cx="16459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66751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12.47%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712464" y="11795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Profit Margin 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12464" y="1371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Target: 15%+  ⚠ Below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12464" y="1572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CBD5E1"/>
                </a:solidFill>
              </a:rPr>
              <a:t>Why: Health: Is growth efficient?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477256" y="594360"/>
            <a:ext cx="1645920" cy="1261872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77256" y="594360"/>
            <a:ext cx="1645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77256" y="66751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5,009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477256" y="11795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Total Orders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77256" y="1371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Avg 1,252 / year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77256" y="1572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CBD5E1"/>
                </a:solidFill>
              </a:rPr>
              <a:t>Why: Volume: Scale of operations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242048" y="594360"/>
            <a:ext cx="1645920" cy="1261872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42048" y="594360"/>
            <a:ext cx="164592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2048" y="66751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15.6%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42048" y="11795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</a:rPr>
              <a:t>Avg Discount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42048" y="1371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High — eroding margins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242048" y="1572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CBD5E1"/>
                </a:solidFill>
              </a:rPr>
              <a:t>Why: Risk: Linked to margin loss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82880" y="1938528"/>
            <a:ext cx="5212080" cy="292608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Year-over-Year Revenue &amp; Profit</a:t>
            </a:r>
            <a:endParaRPr lang="en-US" sz="11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182880" y="2267712"/>
          <a:ext cx="52120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Shape 36"/>
          <p:cNvSpPr/>
          <p:nvPr/>
        </p:nvSpPr>
        <p:spPr>
          <a:xfrm>
            <a:off x="5577840" y="1938528"/>
            <a:ext cx="3337560" cy="292608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5715000" y="2011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 Margin % by Year</a:t>
            </a:r>
            <a:endParaRPr lang="en-US" sz="1100" dirty="0"/>
          </a:p>
        </p:txBody>
      </p:sp>
      <p:graphicFrame>
        <p:nvGraphicFramePr>
          <p:cNvPr id="41" name="Chart 1"/>
          <p:cNvGraphicFramePr/>
          <p:nvPr/>
        </p:nvGraphicFramePr>
        <p:xfrm>
          <a:off x="5577840" y="2267712"/>
          <a:ext cx="333756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2" name="Shape 38"/>
          <p:cNvSpPr/>
          <p:nvPr/>
        </p:nvSpPr>
        <p:spPr>
          <a:xfrm>
            <a:off x="5596128" y="3950208"/>
            <a:ext cx="3310128" cy="841248"/>
          </a:xfrm>
          <a:prstGeom prst="rect">
            <a:avLst/>
          </a:prstGeom>
          <a:solidFill>
            <a:srgbClr val="F97316">
              <a:alpha val="14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596128" y="3950208"/>
            <a:ext cx="45720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705856" y="3950208"/>
            <a:ext cx="3145536" cy="8412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7316"/>
                </a:solidFill>
              </a:rPr>
              <a:t>INSIGHT:  </a:t>
            </a:r>
            <a:r>
              <a:rPr lang="en-US" sz="950" dirty="0">
                <a:solidFill>
                  <a:srgbClr val="E2E8F0"/>
                </a:solidFill>
              </a:rPr>
              <a:t>Margin improved 3 yrs straight (2014→2016 peak: 13.43%). In 2017 — our highest-sales year — sales grew +20% but profit only +14%. This gap is the early warning signal, not a collapse.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CATEGORY PERFORMANCE &amp; PROFITABILITY DEEP DIVE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4 of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640080"/>
            <a:ext cx="530352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132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Revenue vs Profit by Category ($K)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28600" y="987552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246888" y="3749040"/>
            <a:ext cx="525780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6888" y="374904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3776472"/>
            <a:ext cx="5074920" cy="95097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INSIGHT :  </a:t>
            </a:r>
            <a:r>
              <a:rPr lang="en-US" sz="950" dirty="0">
                <a:solidFill>
                  <a:srgbClr val="1E293B"/>
                </a:solidFill>
              </a:rPr>
              <a:t>Furniture generates 32% of revenue but only 6.4% of profit. Technology earns 50% of all profit with similar revenue. Furniture's discount problem (Tables 26%, Bookcases 21%) is structural. Decision: Cap Furniture discounts at 15% and grow Technology.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15000" y="640080"/>
            <a:ext cx="32004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15000" y="640080"/>
            <a:ext cx="45720" cy="1316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12280" y="749808"/>
            <a:ext cx="1115568" cy="20116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21424" y="75895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9488"/>
                </a:solidFill>
              </a:rPr>
              <a:t>STAR PERFORMER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833872" y="713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Technology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33872" y="9875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Revenue: $836K   Profit: $145K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833872" y="11887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</a:rPr>
              <a:t>17.4%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400800" y="150876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net margin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833872" y="17190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→ Grow this. Lowest avg discount (13%), highest margin consistency.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715000" y="2039112"/>
            <a:ext cx="32004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15000" y="2039112"/>
            <a:ext cx="45720" cy="13167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53349" y="2148840"/>
            <a:ext cx="1115568" cy="201168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22592" y="2157984"/>
            <a:ext cx="11463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</a:rPr>
              <a:t>SOLID PERFORMER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833872" y="21122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Office Supplies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833872" y="238658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Revenue: $719K   Profit: $122K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833872" y="25877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</a:rPr>
              <a:t>17.0%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6400800" y="29077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net margin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833872" y="311810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→ Protect. Watch 2017 margin dip to 16.15% — discount creep signal.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5715000" y="3438144"/>
            <a:ext cx="32004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715000" y="3438144"/>
            <a:ext cx="45720" cy="13167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812280" y="3547872"/>
            <a:ext cx="1115568" cy="20116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21424" y="355701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</a:rPr>
              <a:t>CRITICAL CONCERN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833872" y="35112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Furniture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833872" y="378561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Revenue: $742K   Profit: $18K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833872" y="398678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</a:rPr>
              <a:t>2.5%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6400800" y="430682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net margin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833872" y="45171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→ Fix immediately. Tables at −8.56% margin is destroying value at scale.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"/>
            <a:ext cx="9144000" cy="502920"/>
          </a:xfrm>
          <a:prstGeom prst="rect">
            <a:avLst/>
          </a:prstGeom>
          <a:solidFill>
            <a:srgbClr val="080E1A"/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SUB-CATEGORY PROFITABILITY &amp; DISCOUNT DESTRUCTION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5 of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" y="502920"/>
            <a:ext cx="4206237" cy="416052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5897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Profit by Sub-Category (Ascending Order)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91056" y="987552"/>
            <a:ext cx="0" cy="3749040"/>
          </a:xfrm>
          <a:prstGeom prst="line">
            <a:avLst/>
          </a:prstGeom>
          <a:noFill/>
          <a:ln w="15240">
            <a:solidFill>
              <a:srgbClr val="EF444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426464" y="9692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</a:rPr>
              <a:t>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80238" y="640080"/>
            <a:ext cx="51023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8F0"/>
                </a:solidFill>
              </a:rPr>
              <a:t>Tables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" y="1056132"/>
            <a:ext cx="1335023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8" y="86868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</a:rPr>
              <a:t>−$17,725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6032" y="1344168"/>
            <a:ext cx="95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8F0"/>
                </a:solidFill>
              </a:rPr>
              <a:t>Bookcases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166774" y="1399032"/>
            <a:ext cx="41148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" y="1380744"/>
            <a:ext cx="923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</a:rPr>
              <a:t>−$3,473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7278" y="1682496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8F0"/>
                </a:solidFill>
              </a:rPr>
              <a:t>Supplies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426464" y="1737360"/>
            <a:ext cx="164592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17190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F4444"/>
                </a:solidFill>
              </a:rPr>
              <a:t>−$1,189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6032" y="202082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8F0"/>
                </a:solidFill>
              </a:rPr>
              <a:t>Machines ⚠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591056" y="2075688"/>
            <a:ext cx="98755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26387" y="20574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</a:rPr>
              <a:t>$3,385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6032" y="2359152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8F0"/>
                </a:solidFill>
              </a:rPr>
              <a:t>Fasteners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1056" y="2414016"/>
            <a:ext cx="32918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60550" y="239572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$950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56032" y="269748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8F0"/>
                </a:solidFill>
              </a:rPr>
              <a:t>Furnishings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591056" y="2752344"/>
            <a:ext cx="37856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06194" y="273405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</a:rPr>
              <a:t>$13,059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56032" y="303580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8F0"/>
                </a:solidFill>
              </a:rPr>
              <a:t>Chairs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591056" y="3090672"/>
            <a:ext cx="79004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7674" y="307238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</a:rPr>
              <a:t>$26,590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6032" y="3374136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8F0"/>
                </a:solidFill>
              </a:rPr>
              <a:t>Binders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591056" y="3429000"/>
            <a:ext cx="888797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6429" y="341071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97316"/>
                </a:solidFill>
              </a:rPr>
              <a:t>$30,222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6032" y="371246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8F0"/>
                </a:solidFill>
              </a:rPr>
              <a:t>Phones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591056" y="3767328"/>
            <a:ext cx="1316736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44368" y="37490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</a:rPr>
              <a:t>$44,516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56032" y="4050792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8F0"/>
                </a:solidFill>
              </a:rPr>
              <a:t>Accessories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591056" y="4105656"/>
            <a:ext cx="123444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62072" y="40873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</a:rPr>
              <a:t>$41,937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6032" y="438912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2E8F0"/>
                </a:solidFill>
              </a:rPr>
              <a:t>Copiers ⭐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591056" y="4443984"/>
            <a:ext cx="164592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73552" y="4425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A34A"/>
                </a:solidFill>
              </a:rPr>
              <a:t>$55,618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617720" y="621792"/>
            <a:ext cx="4297680" cy="237744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621792"/>
            <a:ext cx="45720" cy="2377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6949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Discount Bucket  →  Profit Margin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09160" y="10058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0% discount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06440" y="1069848"/>
            <a:ext cx="1920240" cy="164592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06440" y="1069848"/>
            <a:ext cx="1888236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90688" y="10058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A34A"/>
                </a:solidFill>
              </a:rPr>
              <a:t>29.5%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09160" y="133502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1–10%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06440" y="1399032"/>
            <a:ext cx="1920240" cy="164592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06440" y="1399032"/>
            <a:ext cx="1062533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90688" y="133502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16.6%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09160" y="1664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11–20%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806440" y="1728216"/>
            <a:ext cx="1920240" cy="164592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06440" y="1728216"/>
            <a:ext cx="742493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90688" y="166420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</a:rPr>
              <a:t>11.6%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709160" y="19933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21–30%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06440" y="2057400"/>
            <a:ext cx="1920240" cy="164592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06440" y="2057400"/>
            <a:ext cx="91440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90688" y="199339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</a:rPr>
              <a:t>−10.1%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709160" y="232257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31–50%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806440" y="2386584"/>
            <a:ext cx="1920240" cy="164592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06440" y="2386584"/>
            <a:ext cx="91440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90688" y="232257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</a:rPr>
              <a:t>−24.8%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709160" y="26517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51%+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806440" y="2715768"/>
            <a:ext cx="1920240" cy="164592"/>
          </a:xfrm>
          <a:prstGeom prst="rect">
            <a:avLst/>
          </a:prstGeom>
          <a:solidFill>
            <a:srgbClr val="0D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06440" y="2715768"/>
            <a:ext cx="914400" cy="16459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90688" y="265176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91B1B"/>
                </a:solidFill>
              </a:rPr>
              <a:t>−119.2%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17720" y="3090672"/>
            <a:ext cx="4297680" cy="178308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617720" y="3090672"/>
            <a:ext cx="45720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31455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⚠  LOSS-MAKING SUB-CATEGORIES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63440" y="3438144"/>
            <a:ext cx="4206240" cy="420624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36592" y="348386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Tables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532120" y="348386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−$17,725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6355080" y="34838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</a:rPr>
              <a:t>−8.6%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040880" y="348386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disc: 26.1%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736592" y="368503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DISCOUNT problem — cap at 15%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4663440" y="3913632"/>
            <a:ext cx="4206240" cy="420624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36592" y="395935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Bookcases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532120" y="395935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−$3,473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355080" y="39593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</a:rPr>
              <a:t>−3.0%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7040880" y="39593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disc: 21.1%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736592" y="416052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DISCOUNT problem — similar to Tables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663440" y="4389120"/>
            <a:ext cx="4206240" cy="420624"/>
          </a:xfrm>
          <a:prstGeom prst="rect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36592" y="44348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Supplies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5532120" y="44348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</a:rPr>
              <a:t>−$1,189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6355080" y="44348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7316"/>
                </a:solidFill>
              </a:rPr>
              <a:t>−2.6%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7040880" y="44348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disc: 7.7%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736592" y="463600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PRICING/COST problem — NOT discounts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46304" y="4709160"/>
            <a:ext cx="4206240" cy="409817"/>
          </a:xfrm>
          <a:prstGeom prst="rect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37160" y="4724955"/>
            <a:ext cx="73150" cy="393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92608" y="4704588"/>
            <a:ext cx="4041648" cy="4709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HIDDEN RISK — MACHINES:  </a:t>
            </a:r>
            <a:r>
              <a:rPr lang="en-US" sz="800" dirty="0">
                <a:solidFill>
                  <a:srgbClr val="E2E8F0"/>
                </a:solidFill>
              </a:rPr>
              <a:t>$189K sales, only 1.79% margin, 30.6% avg discount (highest of all 17 sub-categories). Not yet loss-making — but one price cut away from joining Tables and Bookcases.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REGIONAL PERFORMANCE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6 of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621792"/>
            <a:ext cx="2029968" cy="1371600"/>
          </a:xfrm>
          <a:prstGeom prst="rect">
            <a:avLst/>
          </a:prstGeom>
          <a:solidFill>
            <a:srgbClr val="F0FDF4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621792"/>
            <a:ext cx="45720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621792"/>
            <a:ext cx="202996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640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#1  WEST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94183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</a:rPr>
              <a:t>14.9%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28600" y="138988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Net Margin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8600" y="157276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Rev: $725K   Profit: $108K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8600" y="175564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Orders: 1,611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04872" y="621792"/>
            <a:ext cx="2029968" cy="1371600"/>
          </a:xfrm>
          <a:prstGeom prst="rect">
            <a:avLst/>
          </a:prstGeom>
          <a:solidFill>
            <a:srgbClr val="F0FDFA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04872" y="621792"/>
            <a:ext cx="4572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4872" y="621792"/>
            <a:ext cx="202996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78024" y="640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#2  EAST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04872" y="94183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13.5%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404872" y="138988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Net Margin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04872" y="157276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Rev: $679K   Profit: $92K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04872" y="175564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Orders: 1,401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81144" y="621792"/>
            <a:ext cx="2029968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81144" y="621792"/>
            <a:ext cx="4572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81144" y="621792"/>
            <a:ext cx="202996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54296" y="640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#3  SOUTH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81144" y="94183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11.9%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581144" y="138988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Net Margin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81144" y="157276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Rev: $392K   Profit: $47K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81144" y="175564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Orders: 822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57416" y="621792"/>
            <a:ext cx="2093976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57416" y="621792"/>
            <a:ext cx="45720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57416" y="621792"/>
            <a:ext cx="2084832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0568" y="640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#4  CENTRAL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57416" y="94183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</a:rPr>
              <a:t>7.9%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757416" y="138988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Net Margin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57416" y="157276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Rev: $501K   Profit: $40K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57416" y="175564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Orders: 1,175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8600" y="2084832"/>
            <a:ext cx="864108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2084832"/>
            <a:ext cx="45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2103120"/>
            <a:ext cx="85039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WHY CENTRAL UNDERPERFORMS:</a:t>
            </a:r>
            <a:r>
              <a:rPr lang="en-US" sz="1200" b="1" dirty="0">
                <a:solidFill>
                  <a:srgbClr val="EF4444"/>
                </a:solidFill>
              </a:rPr>
              <a:t>  </a:t>
            </a:r>
            <a:r>
              <a:rPr lang="en-US" sz="1200" dirty="0">
                <a:solidFill>
                  <a:srgbClr val="1E293B"/>
                </a:solidFill>
              </a:rPr>
              <a:t>Central's sales mix skews toward Furniture, which runs at −$2,871 profit in Central (loss-making at −1.75% margin). Technology earns $33.7K and Office Supplies $8.9K in Central — shifting reps toward these categories is the primary lever for rapid margin improvement</a:t>
            </a:r>
            <a:r>
              <a:rPr lang="en-US" sz="950" dirty="0">
                <a:solidFill>
                  <a:srgbClr val="1E293B"/>
                </a:solidFill>
              </a:rPr>
              <a:t>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" y="2834640"/>
            <a:ext cx="5029200" cy="2322576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65760" y="28986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Category × Region Profit Matrix ($)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56032" y="3200400"/>
            <a:ext cx="12344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320040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490472" y="3200400"/>
            <a:ext cx="8686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90472" y="32004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Central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359152" y="3200400"/>
            <a:ext cx="8686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59152" y="32004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East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27832" y="3200400"/>
            <a:ext cx="8686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27832" y="32004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South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096512" y="3200400"/>
            <a:ext cx="8686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6512" y="32004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West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56032" y="3611880"/>
            <a:ext cx="12344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36118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Furniture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490472" y="3611880"/>
            <a:ext cx="86868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490472" y="36118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−$2,871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359152" y="3611880"/>
            <a:ext cx="8686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59152" y="36118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$3,046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27832" y="3611880"/>
            <a:ext cx="8686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27832" y="36118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$6,771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096512" y="3611880"/>
            <a:ext cx="8686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96512" y="36118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</a:rPr>
              <a:t>$11,505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56032" y="4023360"/>
            <a:ext cx="12344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6032" y="40233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Office Supplies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490472" y="4023360"/>
            <a:ext cx="8686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490472" y="402336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$8,880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359152" y="4023360"/>
            <a:ext cx="8686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59152" y="402336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$41,015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227832" y="4023360"/>
            <a:ext cx="8686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27832" y="402336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$19,986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096512" y="4023360"/>
            <a:ext cx="8686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096512" y="402336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</a:rPr>
              <a:t>$52,610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56032" y="4434840"/>
            <a:ext cx="12344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56032" y="44348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Technology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490472" y="4434840"/>
            <a:ext cx="8686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490472" y="4434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$33,697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359152" y="4434840"/>
            <a:ext cx="8686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59152" y="4434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$47,462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227832" y="4434840"/>
            <a:ext cx="8686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27832" y="4434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$19,992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096512" y="4434840"/>
            <a:ext cx="8686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96512" y="4434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</a:rPr>
              <a:t>$44,304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486400" y="2834640"/>
            <a:ext cx="3401568" cy="23088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5623560" y="28986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Top States vs Loss States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5577840" y="3273552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833872" y="32186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California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699248" y="3218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6A34A"/>
                </a:solidFill>
              </a:rPr>
              <a:t>$76.4K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577840" y="360273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833872" y="3547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New York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699248" y="35478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6A34A"/>
                </a:solidFill>
              </a:rPr>
              <a:t>$74.0K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577840" y="3931920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833872" y="38770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Washington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699248" y="38770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6A34A"/>
                </a:solidFill>
              </a:rPr>
              <a:t>$33.4K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577840" y="4261104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833872" y="4206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Texas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7699248" y="42062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F4444"/>
                </a:solidFill>
              </a:rPr>
              <a:t>−$25.7K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5577840" y="4590288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833872" y="45354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Ohio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699248" y="453542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F4444"/>
                </a:solidFill>
              </a:rPr>
              <a:t>−$17.0K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5577840" y="4919472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833872" y="48646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Pennsylvania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699248" y="48646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F4444"/>
                </a:solidFill>
              </a:rPr>
              <a:t>−$15.6K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0E1A"/>
          </a:solidFill>
          <a:ln w="12700">
            <a:solidFill>
              <a:srgbClr val="080E1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 SEGMENTS &amp; SALES SEASONALITY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7 of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621792"/>
            <a:ext cx="2834640" cy="192024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621792"/>
            <a:ext cx="45720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6858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" y="9692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Largest segment — lowest margin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10896" y="117043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</a:rPr>
              <a:t>11.5%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10896" y="160934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margin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0896" y="18288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Rev: $1.16M   Share: 50.5%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0896" y="202996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Profit: $134K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" y="22311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BD5E1"/>
                </a:solidFill>
              </a:rPr>
              <a:t>Large volume, price-sensitive buyers. More discount pressure reduces margin.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0" y="621792"/>
            <a:ext cx="2834640" cy="192024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621792"/>
            <a:ext cx="45720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6858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Corporate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9692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Balanced revenue &amp; profitability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10128" y="117043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</a:rPr>
              <a:t>13.0%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310128" y="160934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margin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10128" y="18288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Rev: $706K   Share: 30.7%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10128" y="202996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Profit: $92K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10128" y="22311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BD5E1"/>
                </a:solidFill>
              </a:rPr>
              <a:t>Stable repeat buyers. Best growth opportunity with targeted cross-selling.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99632" y="621792"/>
            <a:ext cx="2834640" cy="192024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9632" y="621792"/>
            <a:ext cx="45720" cy="1920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6858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Home Office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9692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Smallest but most efficient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117043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34A"/>
                </a:solidFill>
              </a:rPr>
              <a:t>14.0%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309360" y="160934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margin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09360" y="18288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Rev: $430K   Share: 18.7%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09360" y="202996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Profit: $60K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223113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CBD5E1"/>
                </a:solidFill>
              </a:rPr>
              <a:t>WHY highest margin: fewer, higher-value purchases with less discount pressure.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01168" y="2606040"/>
            <a:ext cx="8851392" cy="2487168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7472" y="2670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Monthly Sales Seasonality — Avg Across 4 Years ($K)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7472" y="29443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97316"/>
                </a:solidFill>
              </a:rPr>
              <a:t>Q4 Peak: Nov $88K = 3.7× Feb low. Nov+Dec = 22% of annual revenue.</a:t>
            </a:r>
            <a:endParaRPr lang="en-US" sz="90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201168" y="3127248"/>
          <a:ext cx="8705088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0D15"/>
          </a:solidFill>
          <a:ln w="12700">
            <a:solidFill>
              <a:srgbClr val="060D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FACE  —  Your Best Customer Is Losing You Money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38912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Customer  |  Top of Every Sales Report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9319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Generated: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$25,043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Profit: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487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–$1,981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871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2871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–7.9%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Discount: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32552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6393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Binders Discount: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36393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041648"/>
            <a:ext cx="3931920" cy="731520"/>
          </a:xfrm>
          <a:prstGeom prst="rect">
            <a:avLst/>
          </a:prstGeom>
          <a:solidFill>
            <a:srgbClr val="1A0808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69080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the sales team celebrates Sean Miller.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the business loses money on his account.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804672"/>
            <a:ext cx="3931920" cy="18745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One Customer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131673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customers — 19.5% of the entire customer base — are loss-making. Together they generate $391,950 in revenue and destroy –$71,224 in profit.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834634"/>
            <a:ext cx="397764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0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Have in Common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3337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 — loss customers: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72400" y="3337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3776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 — profitable customers: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0" y="37764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42153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72400" y="42153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percentage points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4425690"/>
            <a:ext cx="3566160" cy="676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customers are not inherently unprofitable.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discounts being offered to them are.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D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'Every sales team has a Sean Miller. He is celebrated. He is a problem. And the only reason we know this is because we looked at profit, not revenue.'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593285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0E1A"/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INSIGHTS &amp; ROOT CAUSE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9 of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621792"/>
            <a:ext cx="2852928" cy="2139696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621792"/>
            <a:ext cx="45720" cy="21396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621792"/>
            <a:ext cx="2852928" cy="292608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816310"/>
            <a:ext cx="2670048" cy="518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Discount Policy is Actively Destroying Profit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" y="1180407"/>
            <a:ext cx="2670048" cy="1050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Orders with discounts above 20% are collectively loss-making: −10.1% margin at 21–30%, −24.8% at 31–50%, and −119.2% at 51%+. These 1,166+ orders contribute −$135K in losses — erasing nearly half of total profit. No business logic justifies discounts at these levels.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49424"/>
            <a:ext cx="2706624" cy="438912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267712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2E8F0"/>
                </a:solidFill>
              </a:rPr>
              <a:t>WHY: Revenue reduction from discount outpaces any volume gain above 20%. This is a structural pricing policy failure, not a competitive necessity.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63824" y="621792"/>
            <a:ext cx="2852928" cy="2139696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63824" y="621792"/>
            <a:ext cx="45720" cy="21396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63824" y="621792"/>
            <a:ext cx="2852928" cy="292608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73552" y="877824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Furniture is a Strategic Trap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73552" y="1353312"/>
            <a:ext cx="267004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Furniture generates $742K revenue (32% of total) but only $18K profit (2.5% margin). Tables alone lost $17.7K — the more you sell, the more you lose. Furniture Central runs at −1.75% margin.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36976" y="2249424"/>
            <a:ext cx="2706624" cy="438912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267712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2E8F0"/>
                </a:solidFill>
              </a:rPr>
              <a:t>WHY: 26% avg discount on Tables and 21% on Bookcases push both sub-categories below break-even. High delivery costs compound the problem.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26480" y="621792"/>
            <a:ext cx="2807208" cy="2139696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621792"/>
            <a:ext cx="45720" cy="21396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621792"/>
            <a:ext cx="2807208" cy="29260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64922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36208" y="969264"/>
            <a:ext cx="262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Central Region Underperforms at Scale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1353312"/>
            <a:ext cx="262432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At 7.9% margin vs 14.9% in West, Central is the company's biggest efficiency gap. With 1,175 orders, this is not a small-sample problem — it is systemic. Central Furniture is actually loss-making at −$2,871.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9632" y="2249424"/>
            <a:ext cx="2660904" cy="43891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2267712"/>
            <a:ext cx="2587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2E8F0"/>
                </a:solidFill>
              </a:rPr>
              <a:t>WHY: Central's sales mix skews toward Furniture. Shifting toward Technology and Office Supplies — which earn $33.7K and $8.9K in Central respectively — directly improves regional margin.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1168" y="2852928"/>
            <a:ext cx="4315968" cy="219456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2852928"/>
            <a:ext cx="45720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1168" y="2852928"/>
            <a:ext cx="4315968" cy="292608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88036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10896" y="3200400"/>
            <a:ext cx="4133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Q4 Concentration Creates Operational Risk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0896" y="3584448"/>
            <a:ext cx="4133088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November and December together account for ~22% of annual sales — 2.7× the average monthly run rate. Without structured preparation, this peak becomes a margin erosion event through rush fulfilment costs.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535424"/>
            <a:ext cx="4169664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4553712"/>
            <a:ext cx="4096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2E8F0"/>
                </a:solidFill>
              </a:rPr>
              <a:t>WHY: Unplanned demand surge = expedited shipping + overtime = cost overrun = margin erosion at exactly the moment revenue is highest.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26864" y="2852928"/>
            <a:ext cx="4306824" cy="2194560"/>
          </a:xfrm>
          <a:prstGeom prst="rect">
            <a:avLst/>
          </a:prstGeom>
          <a:solidFill>
            <a:srgbClr val="121F3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2852928"/>
            <a:ext cx="45720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26864" y="2852928"/>
            <a:ext cx="4306824" cy="292608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0016" y="2880360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736592" y="3200400"/>
            <a:ext cx="4123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 Growth is Outpacing Profit Growth — Early Warning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36592" y="3584448"/>
            <a:ext cx="4123944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Margin improved 3 consecutive years (2014: 10.2% → 2016 peak: 13.43%). In 2017 — our highest-sales year ($733K) — margin dipped to 12.74%. Sales grew +20% but profit only +14%.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0016" y="4535424"/>
            <a:ext cx="4160520" cy="43891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553712"/>
            <a:ext cx="4087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2E8F0"/>
                </a:solidFill>
              </a:rPr>
              <a:t>WHY: We are adding volume (orders +34% in 2017) faster than we are adding profitability. The gap means new orders are being won through discounting, not value. This trend must be arrested.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&amp; ACTIONS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788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04672"/>
            <a:ext cx="54864" cy="19019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77824"/>
            <a:ext cx="100584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778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Cap Discounts at 20% Company-Wide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Est. +$48K–$77K annual profit recovery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hard discount ceiling of 20% across all categories and sales channels. Orders in the 31–51%+ buckets collectively destroy $124K in profit annually. A phased cap — starting with Furniture and Tables — with manager approval required for exceptions above 15% will immediately stabilize margins.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200400" y="804672"/>
            <a:ext cx="2788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04672"/>
            <a:ext cx="54864" cy="19019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877824"/>
            <a:ext cx="100584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8778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337560" y="114300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Reprice Tables &amp; Bookcases or Exit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50876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Tables alone: –$17.7K annual loss to recover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37560" y="173736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generate a –8.6% margin at scale. A rigorous cost review is needed: either raise base prices by 12–15%, remove deep-discount eligibility entirely, or evaluate SKU rationalization. Continuing at current pricing means every unit sold erodes the business — volume growth in this sub-category makes things worse.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172200" y="804672"/>
            <a:ext cx="2788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804672"/>
            <a:ext cx="54864" cy="19019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877824"/>
            <a:ext cx="1005840" cy="201168"/>
          </a:xfrm>
          <a:prstGeom prst="rect">
            <a:avLst/>
          </a:prstGeom>
          <a:solidFill>
            <a:srgbClr val="EFF9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8778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309360" y="114300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Investigate &amp; Fix Central Region Operations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508760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Closing gap to East margin = +$30K+ opportunity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09360" y="1737360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Central's 7.9% margin is 7 percentage points below West. Conduct a region-specific analysis of pricing practices, discount approval rates, freight costs, and product mix. Furniture in Central is margin-negative; a targeted sales strategy that shifts Central reps toward Technology and Office Supplies can drive rapid margin improvement.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600200" y="2788920"/>
            <a:ext cx="2788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00200" y="2788920"/>
            <a:ext cx="54864" cy="19019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2862072"/>
            <a:ext cx="100584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0" y="28620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737360" y="312724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Shift Revenue Mix Toward Technology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349300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Every $1 shifted from Furniture to Tech = +14.9pp margin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737360" y="372160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delivers 17.4% margin with relatively low average discounting (13%). A deliberate effort to grow Technology revenue — through cross-selling to existing Corporate and Home Office segments, and targeted campaigns in the West and East — compounds profitability without requiring cost cuts.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572000" y="2788920"/>
            <a:ext cx="27889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2788920"/>
            <a:ext cx="54864" cy="19019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862072"/>
            <a:ext cx="1005840" cy="201168"/>
          </a:xfrm>
          <a:prstGeom prst="rect">
            <a:avLst/>
          </a:prstGeom>
          <a:solidFill>
            <a:srgbClr val="E0F7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8620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09160" y="312724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Build Q4 Readiness Plan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349300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Protect 22% of annual revenue from fulfilment risk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09160" y="3721608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and December average 2.7× monthly run-rate in sales. Pre-negotiate capacity with logistics providers by August, build inventory buffers for top-selling Technology SKUs by September, and lock staffing plans by October. Unplanned Q4 surge = rushed shipping = margin erosion and customer dissatisfaction.</a:t>
            </a:r>
            <a:endParaRPr lang="en-US" sz="780" dirty="0"/>
          </a:p>
        </p:txBody>
      </p:sp>
    </p:spTree>
    <p:extLst>
      <p:ext uri="{BB962C8B-B14F-4D97-AF65-F5344CB8AC3E}">
        <p14:creationId xmlns:p14="http://schemas.microsoft.com/office/powerpoint/2010/main" val="2977149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7B41EB-7864-B145-281E-5FB3948E1DF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18FEB-CFD6-0DB9-2C1F-58F67D3EEB2C}"/>
              </a:ext>
            </a:extLst>
          </p:cNvPr>
          <p:cNvSpPr txBox="1"/>
          <p:nvPr/>
        </p:nvSpPr>
        <p:spPr>
          <a:xfrm>
            <a:off x="187036" y="50512"/>
            <a:ext cx="58729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FINAL SUMMARY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A53B3-486E-47DE-7C75-81DF7EA582C1}"/>
              </a:ext>
            </a:extLst>
          </p:cNvPr>
          <p:cNvSpPr txBox="1"/>
          <p:nvPr/>
        </p:nvSpPr>
        <p:spPr>
          <a:xfrm>
            <a:off x="748147" y="1760488"/>
            <a:ext cx="80384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66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"This business does not have a growth problem — it has a discipline problem, and a 20% discount ceiling fixes most of it."</a:t>
            </a: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0923B774-4709-908B-DF16-F65691CD3A5B}"/>
              </a:ext>
            </a:extLst>
          </p:cNvPr>
          <p:cNvSpPr/>
          <p:nvPr/>
        </p:nvSpPr>
        <p:spPr>
          <a:xfrm flipH="1">
            <a:off x="0" y="1"/>
            <a:ext cx="45720" cy="5143500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F02B33-87E5-9839-506D-FC402D7978DF}"/>
              </a:ext>
            </a:extLst>
          </p:cNvPr>
          <p:cNvSpPr txBox="1"/>
          <p:nvPr/>
        </p:nvSpPr>
        <p:spPr>
          <a:xfrm>
            <a:off x="8082049" y="235177"/>
            <a:ext cx="17498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Slide 11 of 11</a:t>
            </a:r>
          </a:p>
        </p:txBody>
      </p:sp>
    </p:spTree>
    <p:extLst>
      <p:ext uri="{BB962C8B-B14F-4D97-AF65-F5344CB8AC3E}">
        <p14:creationId xmlns:p14="http://schemas.microsoft.com/office/powerpoint/2010/main" val="1981454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2095</Words>
  <Application>Microsoft Office PowerPoint</Application>
  <PresentationFormat>On-screen Show (16:9)</PresentationFormat>
  <Paragraphs>321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Aharoni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Management Dashboard — upGrad Hackathon 2026</dc:title>
  <dc:subject>PptxGenJS Presentation</dc:subject>
  <dc:creator>PptxGenJS</dc:creator>
  <cp:lastModifiedBy>Shoorjit Sahoo</cp:lastModifiedBy>
  <cp:revision>8</cp:revision>
  <dcterms:created xsi:type="dcterms:W3CDTF">2026-03-05T07:22:15Z</dcterms:created>
  <dcterms:modified xsi:type="dcterms:W3CDTF">2026-03-07T06:09:02Z</dcterms:modified>
</cp:coreProperties>
</file>